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Target Market Segments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F3D77A"/>
              </a:solidFill>
              <a:effectLst/>
            </c:spPr>
          </c:dPt>
          <c:dPt>
            <c:idx val="3"/>
            <c:bubble3D val="0"/>
            <c:spPr>
              <a:solidFill>
                <a:srgbClr val="8B753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Pakistan</c:v>
                </c:pt>
                <c:pt idx="1">
                  <c:v>South Asia excl. PK</c:v>
                </c:pt>
                <c:pt idx="2">
                  <c:v>Rest of Islamic World</c:v>
                </c:pt>
                <c:pt idx="3">
                  <c:v>Global Halal Interest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B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0080"/>
            <a:ext cx="1280160" cy="1280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1917"/>
                </a:solidFill>
              </a:rPr>
              <a:t>BK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6400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BawarchiKhana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Cooking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Intelligent, Halal-First Culinary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8803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Halal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Recipes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8803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Zero-Waste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Optimization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Fuzail Faraz  | 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Pakistani households face the same unsolved challenge.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60520" cy="1325880"/>
          </a:xfrm>
          <a:prstGeom prst="roundRect">
            <a:avLst>
              <a:gd name="adj" fmla="val 620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Daily Cooking Dilemma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719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ask 'What should I cook today?' — wasting 20-30 minutes daily, often ending up with repetitive or unhealthy meals.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160520" cy="1325880"/>
          </a:xfrm>
          <a:prstGeom prst="roundRect">
            <a:avLst>
              <a:gd name="adj" fmla="val 620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10912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Food Waste Crisis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10912" y="1719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households waste ~30% of purchased ingredients due to poor pantry awareness and no guidance on using leftovers effectively.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160520" cy="1325880"/>
          </a:xfrm>
          <a:prstGeom prst="roundRect">
            <a:avLst>
              <a:gd name="adj" fmla="val 620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2898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Halal-Intelligent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2278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global apps (Yummly, Whisk) don't natively understand halal restrictions, Desi ingredients, or Urdu instructions.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4160520" cy="1325880"/>
          </a:xfrm>
          <a:prstGeom prst="roundRect">
            <a:avLst>
              <a:gd name="adj" fmla="val 620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898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Rigid Recipe Apps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32278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apps show fixed recipes — if you're missing one ingredient, you're stuck. No real-time culinary intelligence.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BawarchiKhana — a living, breathing AI sous-chef in your pocket.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localized cooking assistant that takes your available pantry ingredients and instantly generates safe, authentic, culturally accurate Halal recipes — with Urdu voice support and real-time AI guidance.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4231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Vision Scan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734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your fridge — AI identifies all ingredients instantly.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4231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Urdu Voice 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2734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ingredients naturally in Urdu or English.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4768" y="24231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Zero-Waste 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2734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generate recipes from what you actually have.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6118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Real-time Copilot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92277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mid-cooking: substitutes, techniques, tips.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3520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55848" y="36118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Meal Planner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392277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auto-meal plans exported to Google Sheets.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520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44768" y="36118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Health Optimizer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392277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high-protein, low-oil, diabetic-friendly.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6984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0100" y="1755648"/>
            <a:ext cx="0" cy="21031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960120"/>
            <a:ext cx="7315200" cy="896112"/>
          </a:xfrm>
          <a:prstGeom prst="roundRect">
            <a:avLst>
              <a:gd name="adj" fmla="val 9184"/>
            </a:avLst>
          </a:prstGeom>
          <a:solidFill>
            <a:srgbClr val="FEF9EE"/>
          </a:solidFill>
          <a:ln w="12700">
            <a:solidFill>
              <a:srgbClr val="E2C97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0515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36245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secure authentication via Twilio or Google Auth. User profile &amp; dietary preferences stored securely.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756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" y="2761488"/>
            <a:ext cx="0" cy="21031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965960"/>
            <a:ext cx="7315200" cy="896112"/>
          </a:xfrm>
          <a:prstGeom prst="roundRect">
            <a:avLst>
              <a:gd name="adj" fmla="val 9184"/>
            </a:avLst>
          </a:prstGeom>
          <a:solidFill>
            <a:srgbClr val="FEF9EE"/>
          </a:solidFill>
          <a:ln w="12700">
            <a:solidFill>
              <a:srgbClr val="E2C97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20574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Ingredients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36829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voice (Urdu/English), or snap a photo of your fridge. AI extracts and understands every item.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815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" y="3767328"/>
            <a:ext cx="0" cy="21031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971800"/>
            <a:ext cx="7315200" cy="896112"/>
          </a:xfrm>
          <a:prstGeom prst="roundRect">
            <a:avLst>
              <a:gd name="adj" fmla="val 9184"/>
            </a:avLst>
          </a:prstGeom>
          <a:solidFill>
            <a:srgbClr val="FEF9EE"/>
          </a:solidFill>
          <a:ln w="12700">
            <a:solidFill>
              <a:srgbClr val="E2C97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30632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Recipes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37413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cross-references ingredients with Halal culinary DB and generates tailored, zero-waste recipes in seconds.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873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0" y="3977640"/>
            <a:ext cx="7315200" cy="896112"/>
          </a:xfrm>
          <a:prstGeom prst="roundRect">
            <a:avLst>
              <a:gd name="adj" fmla="val 9184"/>
            </a:avLst>
          </a:prstGeom>
          <a:solidFill>
            <a:srgbClr val="FEF9EE"/>
          </a:solidFill>
          <a:ln w="12700">
            <a:solidFill>
              <a:srgbClr val="E2C97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54480" y="40690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with Live 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37997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cooking copilot answers your questions mid-cook. Ask for substitutes, timing, or technique adjustments.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serverless, globally scalable architecture.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1A2A3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25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768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5694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(Edge CDN)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234440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1A2A1A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92624" y="1325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 framework)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10912" y="1984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98.4% of codebase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22768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+ JWT Auth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0912" y="25694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Google Cloud Run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2A1A1A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" y="3200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(Google Cloud SQL)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858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513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Connector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443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env variable management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3108960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2A1F0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3200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Integrations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(AI Engine)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10912" y="3858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Google Auth (OTP Login)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10912" y="41513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Voice TTS/STT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10912" y="4443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→ Vercel / Cloud Build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 with no dominant player.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71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220M+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13075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population — over 50M households actively cooking daily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03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food-tech market projected value by 2027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1.8B+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31729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consumers worldwide seeking Halal-first digital solutions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032504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EF9E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4105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population is under 30 — digital-native, smartphone-first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663440" y="114300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Advantage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BawarchiKhana wins where others fail.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365760"/>
          </a:xfrm>
          <a:prstGeom prst="rect">
            <a:avLst/>
          </a:prstGeom>
          <a:solidFill>
            <a:srgbClr val="3D3027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170432"/>
            <a:ext cx="21031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BawarchiKhana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170432"/>
            <a:ext cx="2103120" cy="365760"/>
          </a:xfrm>
          <a:prstGeom prst="rect">
            <a:avLst/>
          </a:prstGeom>
          <a:solidFill>
            <a:srgbClr val="3D3027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Yummly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170432"/>
            <a:ext cx="1920240" cy="365760"/>
          </a:xfrm>
          <a:prstGeom prst="rect">
            <a:avLst/>
          </a:prstGeom>
          <a:solidFill>
            <a:srgbClr val="3D3027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Apps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274320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7276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Halal-Native Intelligence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1572768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57276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572768"/>
            <a:ext cx="210312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57276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572768"/>
            <a:ext cx="192024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57276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011680"/>
            <a:ext cx="274320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01168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Voice 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2011680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0116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011680"/>
            <a:ext cx="210312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0116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2011680"/>
            <a:ext cx="192024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01168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450592"/>
            <a:ext cx="274320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45059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Zero-Waste Pantry Mode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2450592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45059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2450592"/>
            <a:ext cx="210312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45059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2450592"/>
            <a:ext cx="192024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450592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889504"/>
            <a:ext cx="274320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889504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Asian Recipe Depth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17520" y="2889504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288950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Deep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2889504"/>
            <a:ext cx="210312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88950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2889504"/>
            <a:ext cx="192024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288950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328416"/>
            <a:ext cx="274320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28416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Cooking Copilot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17520" y="3328416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32841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20640" y="3328416"/>
            <a:ext cx="210312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32841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23760" y="3328416"/>
            <a:ext cx="192024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32841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Generic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767328"/>
            <a:ext cx="274320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76732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Gateway (PKR)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017520" y="3767328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376732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Planned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20640" y="3767328"/>
            <a:ext cx="210312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76732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223760" y="3767328"/>
            <a:ext cx="1920240" cy="429768"/>
          </a:xfrm>
          <a:prstGeom prst="rect">
            <a:avLst/>
          </a:prstGeom>
          <a:solidFill>
            <a:srgbClr val="231C16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376732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4206240"/>
            <a:ext cx="274320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20624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Vision Scan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017520" y="4206240"/>
            <a:ext cx="2103120" cy="429768"/>
          </a:xfrm>
          <a:prstGeom prst="rect">
            <a:avLst/>
          </a:prstGeom>
          <a:solidFill>
            <a:srgbClr val="2A1E08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42062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120640" y="4206240"/>
            <a:ext cx="210312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0" y="42062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223760" y="4206240"/>
            <a:ext cx="1920240" cy="429768"/>
          </a:xfrm>
          <a:prstGeom prst="rect">
            <a:avLst/>
          </a:prstGeom>
          <a:solidFill>
            <a:srgbClr val="2A211B"/>
          </a:solidFill>
          <a:ln w="12700">
            <a:solidFill>
              <a:srgbClr val="3D302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23760" y="420624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Some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SaaS with local payment integration.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3657600"/>
          </a:xfrm>
          <a:prstGeom prst="roundRect">
            <a:avLst>
              <a:gd name="adj" fmla="val 3500"/>
            </a:avLst>
          </a:prstGeom>
          <a:solidFill>
            <a:srgbClr val="E8F5E9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984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Chef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70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Recipes per 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text ingredient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56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Halal recipes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9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3977640" cy="3657600"/>
          </a:xfrm>
          <a:prstGeom prst="roundRect">
            <a:avLst>
              <a:gd name="adj" fmla="val 3500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100584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0058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2984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Chef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7190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999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670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Recipes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063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Voice input (Urdu)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456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Cooking 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849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Meal Planner + Sheets export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242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optimization filters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Revenue: Premium Cooking Masterclasses  |  B2B Kitchen Integrations  |  JazzCash / EasyPaisa Local Payments (Roadmap)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to build, grow, and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703320"/>
          </a:xfrm>
          <a:prstGeom prst="roundRect">
            <a:avLst>
              <a:gd name="adj" fmla="val 4068"/>
            </a:avLst>
          </a:prstGeom>
          <a:solidFill>
            <a:srgbClr val="211C1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98448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2025–2026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Authentication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072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Engine (Gemini)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8269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75818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Preferences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3367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Tier Launch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697480" cy="3703320"/>
          </a:xfrm>
          <a:prstGeom prst="roundRect">
            <a:avLst>
              <a:gd name="adj" fmla="val 4068"/>
            </a:avLst>
          </a:prstGeom>
          <a:solidFill>
            <a:srgbClr val="211C1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298448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298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1664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— Q3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IN PROGRESS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7288" y="233172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Vision Scan (Camera AI)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47288" y="28072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JazzCash / EasyPaisa Payments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328269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Recipe Sharing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375818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Recipe Caching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7288" y="423367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Meal Reminders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188720"/>
            <a:ext cx="2697480" cy="3703320"/>
          </a:xfrm>
          <a:prstGeom prst="roundRect">
            <a:avLst>
              <a:gd name="adj" fmla="val 4068"/>
            </a:avLst>
          </a:prstGeom>
          <a:solidFill>
            <a:srgbClr val="211C1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298448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298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1664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2027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PLANNED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233172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Tracking (Receipt Scan)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28072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Cooking Masterclasses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27648" y="328269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API Integrations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7648" y="375818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Kitchen Management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423367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Expansion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on Vercel Edge CDN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1907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432304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323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45536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14553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858768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587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2816352"/>
            <a:ext cx="5029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6334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46120" y="896112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A3A1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298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on Google Cloud Run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47288" y="1719072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171907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2432304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4323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Engine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47288" y="3145536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14553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47288" y="3858768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8587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816352"/>
            <a:ext cx="5029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6334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26480" y="896112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3A1A0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1298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SQL + Gemini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27648" y="1719072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171907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7648" y="2432304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24323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27648" y="3145536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14553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27648" y="3858768"/>
            <a:ext cx="2340864" cy="566928"/>
          </a:xfrm>
          <a:prstGeom prst="roundRect">
            <a:avLst>
              <a:gd name="adj" fmla="val 11290"/>
            </a:avLst>
          </a:prstGeom>
          <a:solidFill>
            <a:srgbClr val="1A1714"/>
          </a:solidFill>
          <a:ln w="12700">
            <a:solidFill>
              <a:srgbClr val="5550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38587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868680"/>
            <a:ext cx="1371600" cy="1371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68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1917"/>
                </a:solidFill>
              </a:rPr>
              <a:t>FF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71800" y="8961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Fuzail Faraz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71800" y="1280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Full-Stack Engineer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162763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BawarchiKhana from scratch — architecting the full Next.js frontend, NestJS backend, cloud deployment pipeline, and Gemini AI integration. Combining deep technical expertise with a passion for solving real Pakistani household problems.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420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of cooking isn't about rigid recipes. It's about intelligent adaptation to what you already have — making every kitchen smarter, one meal at a time."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2633472" cy="1234440"/>
          </a:xfrm>
          <a:prstGeom prst="roundRect">
            <a:avLst>
              <a:gd name="adj" fmla="val 6667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Advisors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Food-tech, AI, or Pakistan market experts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3639312"/>
            <a:ext cx="2633472" cy="1234440"/>
          </a:xfrm>
          <a:prstGeom prst="roundRect">
            <a:avLst>
              <a:gd name="adj" fmla="val 6667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Seed Funding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4133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scale engineering, AI compute, and marketing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639312"/>
            <a:ext cx="2633472" cy="1234440"/>
          </a:xfrm>
          <a:prstGeom prst="roundRect">
            <a:avLst>
              <a:gd name="adj" fmla="val 6667"/>
            </a:avLst>
          </a:prstGeom>
          <a:solidFill>
            <a:srgbClr val="2A211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🤙 Pilot Partners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133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food brands, or cloud kitchens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502920"/>
            <a:ext cx="2194560" cy="21945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029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BK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BawarchiKhana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AI-Powered, Halal-First Smart Kitchen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bawarchi-khana-pi.vercel.app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Contact: Fuzail Faraz  |  GitHub: github.com/fuzailfaraz/BawarchiKhana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BawarchiKhana — AI Cooking Assistant Pitch Deck</dc:title>
  <dc:subject>PptxGenJS Presentation</dc:subject>
  <dc:creator>Fuzail Faraz</dc:creator>
  <cp:lastModifiedBy>Fuzail Faraz</cp:lastModifiedBy>
  <cp:revision>1</cp:revision>
  <dcterms:created xsi:type="dcterms:W3CDTF">2026-06-09T20:38:24Z</dcterms:created>
  <dcterms:modified xsi:type="dcterms:W3CDTF">2026-06-09T20:38:24Z</dcterms:modified>
</cp:coreProperties>
</file>